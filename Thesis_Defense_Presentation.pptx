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Vulnerable Systems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Mean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Secure Systems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Mean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SQLMap
Only</c:v>
                  </c:pt>
                  <c:pt idx="1">
                    <c:v>ZAP
Only</c:v>
                  </c:pt>
                  <c:pt idx="2">
                    <c:v>Simple
Average</c:v>
                  </c:pt>
                  <c:pt idx="3">
                    <c:v>Weighted
Fusion</c:v>
                  </c:pt>
                  <c:pt idx="4">
                    <c:v>Full
Method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73.68</c:v>
                </c:pt>
                <c:pt idx="1">
                  <c:v>69.57</c:v>
                </c:pt>
                <c:pt idx="2">
                  <c:v>78.26</c:v>
                </c:pt>
                <c:pt idx="3">
                  <c:v>82.76</c:v>
                </c:pt>
                <c:pt idx="4">
                  <c:v>85.71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Drop (%)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Remove
Rule 1</c:v>
                  </c:pt>
                  <c:pt idx="1">
                    <c:v>Remove
Rule 2</c:v>
                  </c:pt>
                  <c:pt idx="2">
                    <c:v>Remove
Rule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2.38</c:v>
                </c:pt>
                <c:pt idx="1">
                  <c:v>7.74</c:v>
                </c:pt>
                <c:pt idx="2">
                  <c:v>3.74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A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A085">
              <a:alpha val="9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Multi-source Evidence Fusion Based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SQL Injection Vulnerability Detection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An Application Study in Healthcare Information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Presented by: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Jianing Yang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Supervisor: Hemant Ghayvat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Bachelor Thesis Defense | Computer Science | 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5394960"/>
            <a:ext cx="3657600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Research Background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085"/>
                </a:solidFill>
              </a:rPr>
              <a:t>Current Challenges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</a:rPr>
              <a:t>🔴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30-40% false positive rates
</a:t>
            </a:r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</a:rPr>
              <a:t>🔴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Binary classifications only
</a:t>
            </a:r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</a:rPr>
              <a:t>🔴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No confidence quantification
</a:t>
            </a:r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</a:rPr>
              <a:t>🔴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Lack of medical risk adaptation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Healthcare Context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🏥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Patient safety critical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⚕️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HIPAA compliance required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🔐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Varying risk levels (L1-L4)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💊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Prescription systems vs.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   administrative modules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Research Questions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16A0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085"/>
                </a:solidFill>
              </a:rPr>
              <a:t>Confidence Quantification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Transform binary outputs into continuous confidence scores (0-1 scale)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37160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</a:rPr>
              <a:t>Fusion Effectiveness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057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Validate multi-source fusion with heuristic rules improves 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39319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</a:rPr>
              <a:t>Medical Adaptation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Design adaptive thresholds for 4 medical risk levels (L1-L4)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39319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65760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RQ4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</a:rPr>
              <a:t>Component Analysis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4343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Identify key contributors through ablation studies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Methodology: Evidence Fusion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3200400" cy="502920"/>
          </a:xfrm>
          <a:prstGeom prst="rect">
            <a:avLst/>
          </a:prstGeom>
          <a:solidFill>
            <a:srgbClr val="2C3E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Input: Web Application URL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600200"/>
            <a:ext cx="274320" cy="73152"/>
          </a:xfrm>
          <a:prstGeom prst="downArrow">
            <a:avLst/>
          </a:pr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691640"/>
            <a:ext cx="3200400" cy="502920"/>
          </a:xfrm>
          <a:prstGeom prst="rect">
            <a:avLst/>
          </a:prstGeom>
          <a:solidFill>
            <a:srgbClr val="16A0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737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Multi-Tool Scanning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(SQLMap 60% + ZAP 40%)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194560"/>
            <a:ext cx="274320" cy="73152"/>
          </a:xfrm>
          <a:prstGeom prst="downArrow">
            <a:avLst/>
          </a:prstGeom>
          <a:solidFill>
            <a:srgbClr val="2C3E50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2286000"/>
            <a:ext cx="3200400" cy="502920"/>
          </a:xfrm>
          <a:prstGeom prst="rect">
            <a:avLst/>
          </a:prstGeom>
          <a:solidFill>
            <a:srgbClr val="16A0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331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 Extraction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(8 indicators)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2788920"/>
            <a:ext cx="274320" cy="73152"/>
          </a:xfrm>
          <a:prstGeom prst="downArrow">
            <a:avLst/>
          </a:pr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2880360"/>
            <a:ext cx="3200400" cy="502920"/>
          </a:xfrm>
          <a:prstGeom prst="rect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Weighted Fusion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3383280"/>
            <a:ext cx="274320" cy="73152"/>
          </a:xfrm>
          <a:prstGeom prst="downArrow">
            <a:avLst/>
          </a:prstGeom>
          <a:solidFill>
            <a:srgbClr val="2C3E50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3474720"/>
            <a:ext cx="3200400" cy="502920"/>
          </a:xfrm>
          <a:prstGeom prst="rect">
            <a:avLst/>
          </a:prstGeom>
          <a:solidFill>
            <a:srgbClr val="F39C1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520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Heuristic Adjustment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(3 rules)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3977640"/>
            <a:ext cx="274320" cy="73152"/>
          </a:xfrm>
          <a:prstGeom prst="downArrow">
            <a:avLst/>
          </a:prstGeom>
          <a:solidFill>
            <a:srgbClr val="2C3E50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4069080"/>
            <a:ext cx="3200400" cy="502920"/>
          </a:xfrm>
          <a:prstGeom prst="rect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114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Adaptive Threshold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(L1-L4)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4572000"/>
            <a:ext cx="274320" cy="73152"/>
          </a:xfrm>
          <a:prstGeom prst="downArrow">
            <a:avLst/>
          </a:prstGeom>
          <a:solidFill>
            <a:srgbClr val="2C3E5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4663440"/>
            <a:ext cx="3200400" cy="502920"/>
          </a:xfrm>
          <a:prstGeom prst="rect">
            <a:avLst/>
          </a:prstGeom>
          <a:solidFill>
            <a:srgbClr val="2C3E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4709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Output: Confidence Score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1097280"/>
            <a:ext cx="36576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Heuristic Rules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Rule 1: Consistency Reward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+10% when tools agree (diff&lt;0.15)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Rule 2: Strong Evidence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Min 0.80 for SQL error keywords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3931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Rule 3: Medical Bonus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4251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+55% for L1/L2 critical systems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Implementation &amp; Test Environment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Attack Machine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Kali Linux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SQLMap 1.9.11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ZAP 2.16.1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192.168.10.10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Target 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2860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Ubuntu 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MySQL 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DVWA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sqli-labs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192.168.10.20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65176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Test Coverage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2860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55 Test Cases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32 Real Vulnerabilities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23 Secure Scenarios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4 Risk Levels (L1-L4)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Distribution: L1 (11) | L2 (16) | L3 (16) | L4 (12)     •     Vulnerability Types: Error-based (12) | Boolean Blind (8) | Time-based (7) | UNION (3)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Results: Confidence Distribution (RQ1)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188720"/>
            <a:ext cx="338328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Key Findings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7784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Confidence Gap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40880" y="2103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0.58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77840" y="23774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</a:rPr>
              <a:t>Clear separation achieved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7784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Cohen's 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2.21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577840" y="31089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</a:rPr>
              <a:t>Large effect size (&gt;0.8)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7784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Vulnerable Mean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040880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0.79 ± 0.16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577840" y="3840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</a:rPr>
              <a:t>High confidence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57784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Secure Mean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4297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0.21 ± 0.14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577840" y="4572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</a:rPr>
              <a:t>Low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Results: Method Comparison (RQ2)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292608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Performance Gains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0" y="210312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+12.03%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vs SQLMap alone
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+16.14%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vs ZAP alone
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2000" b="1" dirty="0">
                <a:solidFill>
                  <a:srgbClr val="16A085"/>
                </a:solidFill>
              </a:rPr>
              <a:t>85.71%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Final F1-Score achieved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Results: Adaptive Threshold Performance (RQ3)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280160"/>
                <a:gridCol w="1097280"/>
                <a:gridCol w="128016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 Level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FPR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 (Critical)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66.7%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 (Severe)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88.9%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94.1%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L3 (High)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87.5%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93.3%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16.7%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L4 (Low)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88.9%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Key Insights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977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🎯 L2 Optimal: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Perfect recall (100%) with 0% FPR - ideal balance for severe risk systems
</a:t>
            </a:r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⚠️ L1 Trade-off: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50% FPR accepted to achieve 100% recall - zero false negatives for critical systems
</a:t>
            </a:r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✓ L3 Efficiency: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50% FPR reduction (from 33% to 16.7%) while maintaining 87.5% recall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Results: Component Contribution (RQ4)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188720"/>
            <a:ext cx="338328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Component Ranking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77840" y="210312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26480" y="2103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Rule 2: Strong Evidence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26480" y="2331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-7.74%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</a:rPr>
              <a:t>Most critical component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77840" y="3108960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2nd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Rule 3: Medical Bonus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26480" y="33375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-3.74%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132320" y="3337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</a:rPr>
              <a:t>Domain adaptation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77840" y="4114800"/>
            <a:ext cx="457200" cy="4572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8" name="Text 15"/>
          <p:cNvSpPr/>
          <p:nvPr/>
        </p:nvSpPr>
        <p:spPr>
          <a:xfrm>
            <a:off x="55778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3rd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26480" y="4114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Rule 1: Consistency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26480" y="4343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-2.38%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132320" y="4343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</a:rPr>
              <a:t>Incremental benefit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4023360"/>
          </a:xfrm>
          <a:prstGeom prst="rect">
            <a:avLst/>
          </a:prstGeom>
          <a:solidFill>
            <a:srgbClr val="FFFFFF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Key Contributions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Confidence Quantification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   Transformed binary outputs into 0-1 scale scores
</a:t>
            </a:r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Evidence Fusion Framework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   85.71% F1-score (+12.03% improvement)
</a:t>
            </a:r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Medical Risk Adaptation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   Tailored thresholds for L1-L4 risk levels
</a:t>
            </a:r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HIPAA Compliance Support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   Risk-based vulnerability prioritization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4023360"/>
          </a:xfrm>
          <a:prstGeom prst="rect">
            <a:avLst/>
          </a:prstGeom>
          <a:solidFill>
            <a:srgbClr val="FFFFFF"/>
          </a:solidFill>
          <a:ln w="38100">
            <a:solidFill>
              <a:srgbClr val="16A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085"/>
                </a:solidFill>
              </a:rPr>
              <a:t>Future Directions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🔮 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Real-World Deployment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   Validate in production healthcare systems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🔮 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Expanded Test Coverage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   Increase from 55 to 200+ test cases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🔮 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Multi-Vulnerability Support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   Extend to XSS, CSRF, auth bypass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🔮 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Machine Learning Integration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   Automated weight optimization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A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A085">
              <a:alpha val="9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4114800"/>
            <a:ext cx="3657600" cy="731520"/>
          </a:xfrm>
          <a:prstGeom prst="rect">
            <a:avLst/>
          </a:prstGeom>
          <a:solidFill>
            <a:srgbClr val="FFFFFF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4206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Jianing Yang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Bachelor Thesis | Computer Science |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Injection Detection Defense Presentation</dc:title>
  <dc:subject>Bachelor Thesis Defense</dc:subject>
  <dc:creator>Jianing Yang</dc:creator>
  <cp:lastModifiedBy>Jianing Yang</cp:lastModifiedBy>
  <cp:revision>1</cp:revision>
  <dcterms:created xsi:type="dcterms:W3CDTF">2026-01-08T07:41:56Z</dcterms:created>
  <dcterms:modified xsi:type="dcterms:W3CDTF">2026-01-08T07:41:56Z</dcterms:modified>
</cp:coreProperties>
</file>